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16" r:id="rId1"/>
  </p:sldMasterIdLst>
  <p:notesMasterIdLst>
    <p:notesMasterId r:id="rId12"/>
  </p:notesMasterIdLst>
  <p:sldIdLst>
    <p:sldId id="300" r:id="rId2"/>
    <p:sldId id="296" r:id="rId3"/>
    <p:sldId id="258" r:id="rId4"/>
    <p:sldId id="297" r:id="rId5"/>
    <p:sldId id="291" r:id="rId6"/>
    <p:sldId id="292" r:id="rId7"/>
    <p:sldId id="293" r:id="rId8"/>
    <p:sldId id="294" r:id="rId9"/>
    <p:sldId id="295" r:id="rId10"/>
    <p:sldId id="298" r:id="rId11"/>
  </p:sldIdLst>
  <p:sldSz cx="9144000" cy="5143500" type="screen16x9"/>
  <p:notesSz cx="9144000" cy="514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572B091-EF44-4F7F-B916-EA3DEE79B913}">
          <p14:sldIdLst>
            <p14:sldId id="300"/>
            <p14:sldId id="296"/>
            <p14:sldId id="258"/>
            <p14:sldId id="297"/>
            <p14:sldId id="291"/>
            <p14:sldId id="292"/>
            <p14:sldId id="293"/>
            <p14:sldId id="294"/>
            <p14:sldId id="295"/>
            <p14:sldId id="2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6F4697-0134-4EE3-92E3-182205C3C6C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928AB38-3509-4E86-B005-11D0E95B8774}">
      <dgm:prSet/>
      <dgm:spPr/>
      <dgm:t>
        <a:bodyPr/>
        <a:lstStyle/>
        <a:p>
          <a:r>
            <a:rPr lang="en-US" b="0" i="0" baseline="0" dirty="0"/>
            <a:t>We will develop a </a:t>
          </a:r>
          <a:r>
            <a:rPr lang="en-US" b="1" i="0" baseline="0" dirty="0"/>
            <a:t>discrete-event simulation</a:t>
          </a:r>
          <a:r>
            <a:rPr lang="en-US" b="0" i="0" baseline="0" dirty="0"/>
            <a:t> of a job shop.</a:t>
          </a:r>
          <a:endParaRPr lang="en-US" dirty="0"/>
        </a:p>
      </dgm:t>
    </dgm:pt>
    <dgm:pt modelId="{B619BEA2-ED7A-4897-9298-E9261FA04CD7}" type="parTrans" cxnId="{98788236-C7B3-405A-9DFD-67153F471FA8}">
      <dgm:prSet/>
      <dgm:spPr/>
      <dgm:t>
        <a:bodyPr/>
        <a:lstStyle/>
        <a:p>
          <a:endParaRPr lang="en-US"/>
        </a:p>
      </dgm:t>
    </dgm:pt>
    <dgm:pt modelId="{07F112A3-75D5-4331-8E1D-B5A3D8F916FB}" type="sibTrans" cxnId="{98788236-C7B3-405A-9DFD-67153F471FA8}">
      <dgm:prSet/>
      <dgm:spPr/>
      <dgm:t>
        <a:bodyPr/>
        <a:lstStyle/>
        <a:p>
          <a:endParaRPr lang="en-US"/>
        </a:p>
      </dgm:t>
    </dgm:pt>
    <dgm:pt modelId="{4A993089-0500-4B2F-83A6-22D6C15D4808}">
      <dgm:prSet/>
      <dgm:spPr/>
      <dgm:t>
        <a:bodyPr/>
        <a:lstStyle/>
        <a:p>
          <a:r>
            <a:rPr lang="en-US" b="0" i="0" baseline="0"/>
            <a:t>This virtual factory will model:</a:t>
          </a:r>
          <a:endParaRPr lang="en-US"/>
        </a:p>
      </dgm:t>
    </dgm:pt>
    <dgm:pt modelId="{969C09AF-2F49-4D75-BC61-4D14B5298FCE}" type="parTrans" cxnId="{5782A055-DDB0-482C-B005-F82E246B6A1F}">
      <dgm:prSet/>
      <dgm:spPr/>
      <dgm:t>
        <a:bodyPr/>
        <a:lstStyle/>
        <a:p>
          <a:endParaRPr lang="en-US"/>
        </a:p>
      </dgm:t>
    </dgm:pt>
    <dgm:pt modelId="{4B1E5E74-5007-46FB-A328-BB235E134BCF}" type="sibTrans" cxnId="{5782A055-DDB0-482C-B005-F82E246B6A1F}">
      <dgm:prSet/>
      <dgm:spPr/>
      <dgm:t>
        <a:bodyPr/>
        <a:lstStyle/>
        <a:p>
          <a:endParaRPr lang="en-US"/>
        </a:p>
      </dgm:t>
    </dgm:pt>
    <dgm:pt modelId="{24FFF6FB-B0C6-4DAC-97E1-299EF1D33603}">
      <dgm:prSet/>
      <dgm:spPr/>
      <dgm:t>
        <a:bodyPr/>
        <a:lstStyle/>
        <a:p>
          <a:r>
            <a:rPr lang="en-US" b="0" i="0" baseline="0"/>
            <a:t>A set of machines with specific capabilities.</a:t>
          </a:r>
          <a:endParaRPr lang="en-US"/>
        </a:p>
      </dgm:t>
    </dgm:pt>
    <dgm:pt modelId="{19E1C722-263C-4728-9583-3BABE1EB7DEA}" type="parTrans" cxnId="{3DE6C700-6337-45EF-B534-CD1C7AC7F25C}">
      <dgm:prSet/>
      <dgm:spPr/>
      <dgm:t>
        <a:bodyPr/>
        <a:lstStyle/>
        <a:p>
          <a:endParaRPr lang="en-US"/>
        </a:p>
      </dgm:t>
    </dgm:pt>
    <dgm:pt modelId="{EA5B643C-436F-4FD2-B9F0-7D2E04F00888}" type="sibTrans" cxnId="{3DE6C700-6337-45EF-B534-CD1C7AC7F25C}">
      <dgm:prSet/>
      <dgm:spPr/>
      <dgm:t>
        <a:bodyPr/>
        <a:lstStyle/>
        <a:p>
          <a:endParaRPr lang="en-US"/>
        </a:p>
      </dgm:t>
    </dgm:pt>
    <dgm:pt modelId="{9508717A-CC40-4829-A221-B84656C522FF}">
      <dgm:prSet/>
      <dgm:spPr/>
      <dgm:t>
        <a:bodyPr/>
        <a:lstStyle/>
        <a:p>
          <a:r>
            <a:rPr lang="en-US" b="0" i="0" baseline="0"/>
            <a:t>A queue of jobs, each with a sequence of operations and processing times.</a:t>
          </a:r>
          <a:endParaRPr lang="en-US"/>
        </a:p>
      </dgm:t>
    </dgm:pt>
    <dgm:pt modelId="{E22AE950-582E-48DC-BBA4-5E385624AD78}" type="parTrans" cxnId="{EE01592F-D66A-4AEC-A161-BF7F8E6C8D26}">
      <dgm:prSet/>
      <dgm:spPr/>
      <dgm:t>
        <a:bodyPr/>
        <a:lstStyle/>
        <a:p>
          <a:endParaRPr lang="en-US"/>
        </a:p>
      </dgm:t>
    </dgm:pt>
    <dgm:pt modelId="{EC9D7914-9FFF-4A9A-9CDA-C8685D504A8A}" type="sibTrans" cxnId="{EE01592F-D66A-4AEC-A161-BF7F8E6C8D26}">
      <dgm:prSet/>
      <dgm:spPr/>
      <dgm:t>
        <a:bodyPr/>
        <a:lstStyle/>
        <a:p>
          <a:endParaRPr lang="en-US"/>
        </a:p>
      </dgm:t>
    </dgm:pt>
    <dgm:pt modelId="{8D42201E-2951-4F31-A385-398719703F38}">
      <dgm:prSet/>
      <dgm:spPr/>
      <dgm:t>
        <a:bodyPr/>
        <a:lstStyle/>
        <a:p>
          <a:r>
            <a:rPr lang="en-US" b="0" i="0" baseline="0"/>
            <a:t>The simulation will be the "playground" where our RL agent learns and is tested.</a:t>
          </a:r>
          <a:endParaRPr lang="en-US"/>
        </a:p>
      </dgm:t>
    </dgm:pt>
    <dgm:pt modelId="{3B37C483-A36C-4BA6-976E-FD344E7A6430}" type="parTrans" cxnId="{CD19558C-79B1-47F3-84A2-16F4FED042BB}">
      <dgm:prSet/>
      <dgm:spPr/>
      <dgm:t>
        <a:bodyPr/>
        <a:lstStyle/>
        <a:p>
          <a:endParaRPr lang="en-US"/>
        </a:p>
      </dgm:t>
    </dgm:pt>
    <dgm:pt modelId="{3374CBAE-816A-4A10-8813-6DD600B18B34}" type="sibTrans" cxnId="{CD19558C-79B1-47F3-84A2-16F4FED042BB}">
      <dgm:prSet/>
      <dgm:spPr/>
      <dgm:t>
        <a:bodyPr/>
        <a:lstStyle/>
        <a:p>
          <a:endParaRPr lang="en-US"/>
        </a:p>
      </dgm:t>
    </dgm:pt>
    <dgm:pt modelId="{F3F13AAA-9A59-4B5D-8DD0-110C727F7647}">
      <dgm:prSet/>
      <dgm:spPr/>
      <dgm:t>
        <a:bodyPr/>
        <a:lstStyle/>
        <a:p>
          <a:r>
            <a:rPr lang="en-US" b="1" i="0" baseline="0" dirty="0"/>
            <a:t>Tool:</a:t>
          </a:r>
          <a:r>
            <a:rPr lang="en-US" b="0" i="0" baseline="0" dirty="0"/>
            <a:t> We plan to use </a:t>
          </a:r>
          <a:r>
            <a:rPr lang="en-US" b="0" i="0" baseline="0" dirty="0" err="1"/>
            <a:t>simpy</a:t>
          </a:r>
          <a:r>
            <a:rPr lang="en-US" b="0" i="0" baseline="0" dirty="0"/>
            <a:t> or build a custom environment in Python.</a:t>
          </a:r>
          <a:endParaRPr lang="en-US" dirty="0"/>
        </a:p>
      </dgm:t>
    </dgm:pt>
    <dgm:pt modelId="{ABF9CE55-744D-4C43-B571-AC17E35D8974}" type="parTrans" cxnId="{BE451A6C-EA37-4636-8F6E-D91A39E79A57}">
      <dgm:prSet/>
      <dgm:spPr/>
      <dgm:t>
        <a:bodyPr/>
        <a:lstStyle/>
        <a:p>
          <a:endParaRPr lang="en-US"/>
        </a:p>
      </dgm:t>
    </dgm:pt>
    <dgm:pt modelId="{97BE87C7-7E90-49EB-8ED0-4966649B9D25}" type="sibTrans" cxnId="{BE451A6C-EA37-4636-8F6E-D91A39E79A57}">
      <dgm:prSet/>
      <dgm:spPr/>
      <dgm:t>
        <a:bodyPr/>
        <a:lstStyle/>
        <a:p>
          <a:endParaRPr lang="en-US"/>
        </a:p>
      </dgm:t>
    </dgm:pt>
    <dgm:pt modelId="{3FC5A8DD-2BA2-4198-91C4-FBC1EDBA2312}" type="pres">
      <dgm:prSet presAssocID="{576F4697-0134-4EE3-92E3-182205C3C6C1}" presName="root" presStyleCnt="0">
        <dgm:presLayoutVars>
          <dgm:dir/>
          <dgm:resizeHandles val="exact"/>
        </dgm:presLayoutVars>
      </dgm:prSet>
      <dgm:spPr/>
    </dgm:pt>
    <dgm:pt modelId="{B53F26C0-02A0-4F25-B3B0-DA3419B4E17C}" type="pres">
      <dgm:prSet presAssocID="{8928AB38-3509-4E86-B005-11D0E95B8774}" presName="compNode" presStyleCnt="0"/>
      <dgm:spPr/>
    </dgm:pt>
    <dgm:pt modelId="{EBA604C9-7628-4E20-B234-4D4B8AEC37AD}" type="pres">
      <dgm:prSet presAssocID="{8928AB38-3509-4E86-B005-11D0E95B8774}" presName="bgRect" presStyleLbl="bgShp" presStyleIdx="0" presStyleCnt="6"/>
      <dgm:spPr/>
    </dgm:pt>
    <dgm:pt modelId="{489DF1BD-9457-4B70-BA22-4AC86E7435F5}" type="pres">
      <dgm:prSet presAssocID="{8928AB38-3509-4E86-B005-11D0E95B877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0FCEF1B-98EE-48C3-AF33-A4FE6D0D1E51}" type="pres">
      <dgm:prSet presAssocID="{8928AB38-3509-4E86-B005-11D0E95B8774}" presName="spaceRect" presStyleCnt="0"/>
      <dgm:spPr/>
    </dgm:pt>
    <dgm:pt modelId="{67881896-3B00-4C10-A3DF-3760FD132CA2}" type="pres">
      <dgm:prSet presAssocID="{8928AB38-3509-4E86-B005-11D0E95B8774}" presName="parTx" presStyleLbl="revTx" presStyleIdx="0" presStyleCnt="6">
        <dgm:presLayoutVars>
          <dgm:chMax val="0"/>
          <dgm:chPref val="0"/>
        </dgm:presLayoutVars>
      </dgm:prSet>
      <dgm:spPr/>
    </dgm:pt>
    <dgm:pt modelId="{AB7F50D5-165D-4371-A0FE-20354ABAB970}" type="pres">
      <dgm:prSet presAssocID="{07F112A3-75D5-4331-8E1D-B5A3D8F916FB}" presName="sibTrans" presStyleCnt="0"/>
      <dgm:spPr/>
    </dgm:pt>
    <dgm:pt modelId="{742085EF-36FB-4BB6-ABD4-CF84D9880012}" type="pres">
      <dgm:prSet presAssocID="{4A993089-0500-4B2F-83A6-22D6C15D4808}" presName="compNode" presStyleCnt="0"/>
      <dgm:spPr/>
    </dgm:pt>
    <dgm:pt modelId="{B6ABC235-F2FA-448B-B377-2447D0D4A810}" type="pres">
      <dgm:prSet presAssocID="{4A993089-0500-4B2F-83A6-22D6C15D4808}" presName="bgRect" presStyleLbl="bgShp" presStyleIdx="1" presStyleCnt="6"/>
      <dgm:spPr/>
    </dgm:pt>
    <dgm:pt modelId="{EBCD9CAC-4DCF-4749-9883-917455D47861}" type="pres">
      <dgm:prSet presAssocID="{4A993089-0500-4B2F-83A6-22D6C15D480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A41BDE18-EE75-4128-8BA4-1BD0A6281D3C}" type="pres">
      <dgm:prSet presAssocID="{4A993089-0500-4B2F-83A6-22D6C15D4808}" presName="spaceRect" presStyleCnt="0"/>
      <dgm:spPr/>
    </dgm:pt>
    <dgm:pt modelId="{552EAB39-340D-48D6-AD39-859E29F21BF4}" type="pres">
      <dgm:prSet presAssocID="{4A993089-0500-4B2F-83A6-22D6C15D4808}" presName="parTx" presStyleLbl="revTx" presStyleIdx="1" presStyleCnt="6">
        <dgm:presLayoutVars>
          <dgm:chMax val="0"/>
          <dgm:chPref val="0"/>
        </dgm:presLayoutVars>
      </dgm:prSet>
      <dgm:spPr/>
    </dgm:pt>
    <dgm:pt modelId="{6D179E19-501B-42E1-8660-0E0521513647}" type="pres">
      <dgm:prSet presAssocID="{4B1E5E74-5007-46FB-A328-BB235E134BCF}" presName="sibTrans" presStyleCnt="0"/>
      <dgm:spPr/>
    </dgm:pt>
    <dgm:pt modelId="{2A082AA2-088E-4496-8409-E559B494766A}" type="pres">
      <dgm:prSet presAssocID="{24FFF6FB-B0C6-4DAC-97E1-299EF1D33603}" presName="compNode" presStyleCnt="0"/>
      <dgm:spPr/>
    </dgm:pt>
    <dgm:pt modelId="{C202C518-BD02-4CB8-9CBB-DC2190567928}" type="pres">
      <dgm:prSet presAssocID="{24FFF6FB-B0C6-4DAC-97E1-299EF1D33603}" presName="bgRect" presStyleLbl="bgShp" presStyleIdx="2" presStyleCnt="6"/>
      <dgm:spPr/>
    </dgm:pt>
    <dgm:pt modelId="{D605EB4A-B860-43EE-8BC6-76F45BEB2264}" type="pres">
      <dgm:prSet presAssocID="{24FFF6FB-B0C6-4DAC-97E1-299EF1D3360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9B5C07E-3630-4228-A86F-32104E641FD8}" type="pres">
      <dgm:prSet presAssocID="{24FFF6FB-B0C6-4DAC-97E1-299EF1D33603}" presName="spaceRect" presStyleCnt="0"/>
      <dgm:spPr/>
    </dgm:pt>
    <dgm:pt modelId="{0B91D0F6-8DB3-4E83-A5BE-673921AF16FF}" type="pres">
      <dgm:prSet presAssocID="{24FFF6FB-B0C6-4DAC-97E1-299EF1D33603}" presName="parTx" presStyleLbl="revTx" presStyleIdx="2" presStyleCnt="6">
        <dgm:presLayoutVars>
          <dgm:chMax val="0"/>
          <dgm:chPref val="0"/>
        </dgm:presLayoutVars>
      </dgm:prSet>
      <dgm:spPr/>
    </dgm:pt>
    <dgm:pt modelId="{DE39B61C-303B-4F14-BB53-B48D2ED69D8A}" type="pres">
      <dgm:prSet presAssocID="{EA5B643C-436F-4FD2-B9F0-7D2E04F00888}" presName="sibTrans" presStyleCnt="0"/>
      <dgm:spPr/>
    </dgm:pt>
    <dgm:pt modelId="{D6E9006B-84F8-4B10-8872-23A3775195A4}" type="pres">
      <dgm:prSet presAssocID="{9508717A-CC40-4829-A221-B84656C522FF}" presName="compNode" presStyleCnt="0"/>
      <dgm:spPr/>
    </dgm:pt>
    <dgm:pt modelId="{AC448DC3-8DF6-4DC2-8859-7F18CC8B6805}" type="pres">
      <dgm:prSet presAssocID="{9508717A-CC40-4829-A221-B84656C522FF}" presName="bgRect" presStyleLbl="bgShp" presStyleIdx="3" presStyleCnt="6"/>
      <dgm:spPr/>
    </dgm:pt>
    <dgm:pt modelId="{F32CB532-68EF-4C4F-9246-532EB5ECE98A}" type="pres">
      <dgm:prSet presAssocID="{9508717A-CC40-4829-A221-B84656C522F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ADDAED02-150E-42DC-83EE-EC9B869C0C85}" type="pres">
      <dgm:prSet presAssocID="{9508717A-CC40-4829-A221-B84656C522FF}" presName="spaceRect" presStyleCnt="0"/>
      <dgm:spPr/>
    </dgm:pt>
    <dgm:pt modelId="{FDA3D340-23D5-4962-B47F-EC524555038A}" type="pres">
      <dgm:prSet presAssocID="{9508717A-CC40-4829-A221-B84656C522FF}" presName="parTx" presStyleLbl="revTx" presStyleIdx="3" presStyleCnt="6">
        <dgm:presLayoutVars>
          <dgm:chMax val="0"/>
          <dgm:chPref val="0"/>
        </dgm:presLayoutVars>
      </dgm:prSet>
      <dgm:spPr/>
    </dgm:pt>
    <dgm:pt modelId="{65CA58C0-0537-4ADE-8197-5178B335A670}" type="pres">
      <dgm:prSet presAssocID="{EC9D7914-9FFF-4A9A-9CDA-C8685D504A8A}" presName="sibTrans" presStyleCnt="0"/>
      <dgm:spPr/>
    </dgm:pt>
    <dgm:pt modelId="{0D61382D-0CBB-466B-8C23-33FCE9F09621}" type="pres">
      <dgm:prSet presAssocID="{8D42201E-2951-4F31-A385-398719703F38}" presName="compNode" presStyleCnt="0"/>
      <dgm:spPr/>
    </dgm:pt>
    <dgm:pt modelId="{AEE9F708-15DD-40E9-8698-5EE134C83C71}" type="pres">
      <dgm:prSet presAssocID="{8D42201E-2951-4F31-A385-398719703F38}" presName="bgRect" presStyleLbl="bgShp" presStyleIdx="4" presStyleCnt="6"/>
      <dgm:spPr/>
    </dgm:pt>
    <dgm:pt modelId="{E2B4120B-AC1B-4F75-880C-D1C8B17FEF22}" type="pres">
      <dgm:prSet presAssocID="{8D42201E-2951-4F31-A385-398719703F38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28C5CD8-027F-49DF-AF92-96DB9F31E87B}" type="pres">
      <dgm:prSet presAssocID="{8D42201E-2951-4F31-A385-398719703F38}" presName="spaceRect" presStyleCnt="0"/>
      <dgm:spPr/>
    </dgm:pt>
    <dgm:pt modelId="{9557CA1D-F2DC-4EC3-BFE2-4CCB08AE1A9D}" type="pres">
      <dgm:prSet presAssocID="{8D42201E-2951-4F31-A385-398719703F38}" presName="parTx" presStyleLbl="revTx" presStyleIdx="4" presStyleCnt="6">
        <dgm:presLayoutVars>
          <dgm:chMax val="0"/>
          <dgm:chPref val="0"/>
        </dgm:presLayoutVars>
      </dgm:prSet>
      <dgm:spPr/>
    </dgm:pt>
    <dgm:pt modelId="{2E80CCDA-B39B-4029-8CBF-DD392F990253}" type="pres">
      <dgm:prSet presAssocID="{3374CBAE-816A-4A10-8813-6DD600B18B34}" presName="sibTrans" presStyleCnt="0"/>
      <dgm:spPr/>
    </dgm:pt>
    <dgm:pt modelId="{4F198013-D5CE-4869-A550-26C87D5228A5}" type="pres">
      <dgm:prSet presAssocID="{F3F13AAA-9A59-4B5D-8DD0-110C727F7647}" presName="compNode" presStyleCnt="0"/>
      <dgm:spPr/>
    </dgm:pt>
    <dgm:pt modelId="{0FF4B18B-5A29-491F-BA6B-7C6666453CD3}" type="pres">
      <dgm:prSet presAssocID="{F3F13AAA-9A59-4B5D-8DD0-110C727F7647}" presName="bgRect" presStyleLbl="bgShp" presStyleIdx="5" presStyleCnt="6"/>
      <dgm:spPr/>
    </dgm:pt>
    <dgm:pt modelId="{0FB0A15C-4B8E-478C-96CC-92A76E3CB884}" type="pres">
      <dgm:prSet presAssocID="{F3F13AAA-9A59-4B5D-8DD0-110C727F7647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FA4CEB4D-2873-4CA5-ABD6-A1992921F242}" type="pres">
      <dgm:prSet presAssocID="{F3F13AAA-9A59-4B5D-8DD0-110C727F7647}" presName="spaceRect" presStyleCnt="0"/>
      <dgm:spPr/>
    </dgm:pt>
    <dgm:pt modelId="{F0DA7D56-F96F-492A-AAF8-AC88E5FEF7E0}" type="pres">
      <dgm:prSet presAssocID="{F3F13AAA-9A59-4B5D-8DD0-110C727F7647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3DE6C700-6337-45EF-B534-CD1C7AC7F25C}" srcId="{576F4697-0134-4EE3-92E3-182205C3C6C1}" destId="{24FFF6FB-B0C6-4DAC-97E1-299EF1D33603}" srcOrd="2" destOrd="0" parTransId="{19E1C722-263C-4728-9583-3BABE1EB7DEA}" sibTransId="{EA5B643C-436F-4FD2-B9F0-7D2E04F00888}"/>
    <dgm:cxn modelId="{29D4AB06-6696-49EF-8799-2CD5DE2658F1}" type="presOf" srcId="{576F4697-0134-4EE3-92E3-182205C3C6C1}" destId="{3FC5A8DD-2BA2-4198-91C4-FBC1EDBA2312}" srcOrd="0" destOrd="0" presId="urn:microsoft.com/office/officeart/2018/2/layout/IconVerticalSolidList"/>
    <dgm:cxn modelId="{52EA0D1D-F687-4426-A9C9-31289D8550E5}" type="presOf" srcId="{24FFF6FB-B0C6-4DAC-97E1-299EF1D33603}" destId="{0B91D0F6-8DB3-4E83-A5BE-673921AF16FF}" srcOrd="0" destOrd="0" presId="urn:microsoft.com/office/officeart/2018/2/layout/IconVerticalSolidList"/>
    <dgm:cxn modelId="{CADE3826-36BB-41E5-A30E-8D7E7B8CEFFC}" type="presOf" srcId="{9508717A-CC40-4829-A221-B84656C522FF}" destId="{FDA3D340-23D5-4962-B47F-EC524555038A}" srcOrd="0" destOrd="0" presId="urn:microsoft.com/office/officeart/2018/2/layout/IconVerticalSolidList"/>
    <dgm:cxn modelId="{EE01592F-D66A-4AEC-A161-BF7F8E6C8D26}" srcId="{576F4697-0134-4EE3-92E3-182205C3C6C1}" destId="{9508717A-CC40-4829-A221-B84656C522FF}" srcOrd="3" destOrd="0" parTransId="{E22AE950-582E-48DC-BBA4-5E385624AD78}" sibTransId="{EC9D7914-9FFF-4A9A-9CDA-C8685D504A8A}"/>
    <dgm:cxn modelId="{98788236-C7B3-405A-9DFD-67153F471FA8}" srcId="{576F4697-0134-4EE3-92E3-182205C3C6C1}" destId="{8928AB38-3509-4E86-B005-11D0E95B8774}" srcOrd="0" destOrd="0" parTransId="{B619BEA2-ED7A-4897-9298-E9261FA04CD7}" sibTransId="{07F112A3-75D5-4331-8E1D-B5A3D8F916FB}"/>
    <dgm:cxn modelId="{9EC66D5F-A019-4912-9476-4574D71C50DF}" type="presOf" srcId="{4A993089-0500-4B2F-83A6-22D6C15D4808}" destId="{552EAB39-340D-48D6-AD39-859E29F21BF4}" srcOrd="0" destOrd="0" presId="urn:microsoft.com/office/officeart/2018/2/layout/IconVerticalSolidList"/>
    <dgm:cxn modelId="{BE451A6C-EA37-4636-8F6E-D91A39E79A57}" srcId="{576F4697-0134-4EE3-92E3-182205C3C6C1}" destId="{F3F13AAA-9A59-4B5D-8DD0-110C727F7647}" srcOrd="5" destOrd="0" parTransId="{ABF9CE55-744D-4C43-B571-AC17E35D8974}" sibTransId="{97BE87C7-7E90-49EB-8ED0-4966649B9D25}"/>
    <dgm:cxn modelId="{80018B4C-879B-4928-B3AC-0DF429B8A6D8}" type="presOf" srcId="{8D42201E-2951-4F31-A385-398719703F38}" destId="{9557CA1D-F2DC-4EC3-BFE2-4CCB08AE1A9D}" srcOrd="0" destOrd="0" presId="urn:microsoft.com/office/officeart/2018/2/layout/IconVerticalSolidList"/>
    <dgm:cxn modelId="{5782A055-DDB0-482C-B005-F82E246B6A1F}" srcId="{576F4697-0134-4EE3-92E3-182205C3C6C1}" destId="{4A993089-0500-4B2F-83A6-22D6C15D4808}" srcOrd="1" destOrd="0" parTransId="{969C09AF-2F49-4D75-BC61-4D14B5298FCE}" sibTransId="{4B1E5E74-5007-46FB-A328-BB235E134BCF}"/>
    <dgm:cxn modelId="{B84D5D58-AE0D-4617-A848-1B3E4BDFA5BA}" type="presOf" srcId="{F3F13AAA-9A59-4B5D-8DD0-110C727F7647}" destId="{F0DA7D56-F96F-492A-AAF8-AC88E5FEF7E0}" srcOrd="0" destOrd="0" presId="urn:microsoft.com/office/officeart/2018/2/layout/IconVerticalSolidList"/>
    <dgm:cxn modelId="{CD19558C-79B1-47F3-84A2-16F4FED042BB}" srcId="{576F4697-0134-4EE3-92E3-182205C3C6C1}" destId="{8D42201E-2951-4F31-A385-398719703F38}" srcOrd="4" destOrd="0" parTransId="{3B37C483-A36C-4BA6-976E-FD344E7A6430}" sibTransId="{3374CBAE-816A-4A10-8813-6DD600B18B34}"/>
    <dgm:cxn modelId="{3EFCABD4-78F7-4518-B4BD-3C1C79304886}" type="presOf" srcId="{8928AB38-3509-4E86-B005-11D0E95B8774}" destId="{67881896-3B00-4C10-A3DF-3760FD132CA2}" srcOrd="0" destOrd="0" presId="urn:microsoft.com/office/officeart/2018/2/layout/IconVerticalSolidList"/>
    <dgm:cxn modelId="{6C2775F0-A3DF-48CF-BBB7-CCEBDCB3C55C}" type="presParOf" srcId="{3FC5A8DD-2BA2-4198-91C4-FBC1EDBA2312}" destId="{B53F26C0-02A0-4F25-B3B0-DA3419B4E17C}" srcOrd="0" destOrd="0" presId="urn:microsoft.com/office/officeart/2018/2/layout/IconVerticalSolidList"/>
    <dgm:cxn modelId="{980C4504-E945-4582-8327-3E5454BCA5F7}" type="presParOf" srcId="{B53F26C0-02A0-4F25-B3B0-DA3419B4E17C}" destId="{EBA604C9-7628-4E20-B234-4D4B8AEC37AD}" srcOrd="0" destOrd="0" presId="urn:microsoft.com/office/officeart/2018/2/layout/IconVerticalSolidList"/>
    <dgm:cxn modelId="{425C277D-B298-4680-ADE2-1B7727D06475}" type="presParOf" srcId="{B53F26C0-02A0-4F25-B3B0-DA3419B4E17C}" destId="{489DF1BD-9457-4B70-BA22-4AC86E7435F5}" srcOrd="1" destOrd="0" presId="urn:microsoft.com/office/officeart/2018/2/layout/IconVerticalSolidList"/>
    <dgm:cxn modelId="{303412D8-1A30-40A5-8EE1-722ECDBD93F0}" type="presParOf" srcId="{B53F26C0-02A0-4F25-B3B0-DA3419B4E17C}" destId="{90FCEF1B-98EE-48C3-AF33-A4FE6D0D1E51}" srcOrd="2" destOrd="0" presId="urn:microsoft.com/office/officeart/2018/2/layout/IconVerticalSolidList"/>
    <dgm:cxn modelId="{975E233A-2A99-4E71-9B0C-412A3DBF3B47}" type="presParOf" srcId="{B53F26C0-02A0-4F25-B3B0-DA3419B4E17C}" destId="{67881896-3B00-4C10-A3DF-3760FD132CA2}" srcOrd="3" destOrd="0" presId="urn:microsoft.com/office/officeart/2018/2/layout/IconVerticalSolidList"/>
    <dgm:cxn modelId="{98697D1A-0D29-493B-9CD0-F979401C44D6}" type="presParOf" srcId="{3FC5A8DD-2BA2-4198-91C4-FBC1EDBA2312}" destId="{AB7F50D5-165D-4371-A0FE-20354ABAB970}" srcOrd="1" destOrd="0" presId="urn:microsoft.com/office/officeart/2018/2/layout/IconVerticalSolidList"/>
    <dgm:cxn modelId="{832AD093-376D-4C89-88CB-61AC4269734F}" type="presParOf" srcId="{3FC5A8DD-2BA2-4198-91C4-FBC1EDBA2312}" destId="{742085EF-36FB-4BB6-ABD4-CF84D9880012}" srcOrd="2" destOrd="0" presId="urn:microsoft.com/office/officeart/2018/2/layout/IconVerticalSolidList"/>
    <dgm:cxn modelId="{83F11700-FB2F-45B5-8222-9E0B35F973D7}" type="presParOf" srcId="{742085EF-36FB-4BB6-ABD4-CF84D9880012}" destId="{B6ABC235-F2FA-448B-B377-2447D0D4A810}" srcOrd="0" destOrd="0" presId="urn:microsoft.com/office/officeart/2018/2/layout/IconVerticalSolidList"/>
    <dgm:cxn modelId="{2F69D447-DA6F-4E68-9F7D-71627BF50A0B}" type="presParOf" srcId="{742085EF-36FB-4BB6-ABD4-CF84D9880012}" destId="{EBCD9CAC-4DCF-4749-9883-917455D47861}" srcOrd="1" destOrd="0" presId="urn:microsoft.com/office/officeart/2018/2/layout/IconVerticalSolidList"/>
    <dgm:cxn modelId="{3DC55A77-8C0C-44F6-ACC9-C7D603229FFB}" type="presParOf" srcId="{742085EF-36FB-4BB6-ABD4-CF84D9880012}" destId="{A41BDE18-EE75-4128-8BA4-1BD0A6281D3C}" srcOrd="2" destOrd="0" presId="urn:microsoft.com/office/officeart/2018/2/layout/IconVerticalSolidList"/>
    <dgm:cxn modelId="{CA1FF101-5F62-469B-B5BB-7569790D7745}" type="presParOf" srcId="{742085EF-36FB-4BB6-ABD4-CF84D9880012}" destId="{552EAB39-340D-48D6-AD39-859E29F21BF4}" srcOrd="3" destOrd="0" presId="urn:microsoft.com/office/officeart/2018/2/layout/IconVerticalSolidList"/>
    <dgm:cxn modelId="{E2993583-D27D-4755-AA08-20E1B86A99AF}" type="presParOf" srcId="{3FC5A8DD-2BA2-4198-91C4-FBC1EDBA2312}" destId="{6D179E19-501B-42E1-8660-0E0521513647}" srcOrd="3" destOrd="0" presId="urn:microsoft.com/office/officeart/2018/2/layout/IconVerticalSolidList"/>
    <dgm:cxn modelId="{98EB0D74-F5B5-4BF5-8DE5-9E16CAB6CA92}" type="presParOf" srcId="{3FC5A8DD-2BA2-4198-91C4-FBC1EDBA2312}" destId="{2A082AA2-088E-4496-8409-E559B494766A}" srcOrd="4" destOrd="0" presId="urn:microsoft.com/office/officeart/2018/2/layout/IconVerticalSolidList"/>
    <dgm:cxn modelId="{E805DEEE-B9D3-4EFD-9796-7AC1835A9C0B}" type="presParOf" srcId="{2A082AA2-088E-4496-8409-E559B494766A}" destId="{C202C518-BD02-4CB8-9CBB-DC2190567928}" srcOrd="0" destOrd="0" presId="urn:microsoft.com/office/officeart/2018/2/layout/IconVerticalSolidList"/>
    <dgm:cxn modelId="{6FFCE5DD-F0E6-447D-9E2A-7DC4DEB4480D}" type="presParOf" srcId="{2A082AA2-088E-4496-8409-E559B494766A}" destId="{D605EB4A-B860-43EE-8BC6-76F45BEB2264}" srcOrd="1" destOrd="0" presId="urn:microsoft.com/office/officeart/2018/2/layout/IconVerticalSolidList"/>
    <dgm:cxn modelId="{84321E8E-E5D9-407A-8F54-4B0B028025E1}" type="presParOf" srcId="{2A082AA2-088E-4496-8409-E559B494766A}" destId="{F9B5C07E-3630-4228-A86F-32104E641FD8}" srcOrd="2" destOrd="0" presId="urn:microsoft.com/office/officeart/2018/2/layout/IconVerticalSolidList"/>
    <dgm:cxn modelId="{A7018907-A40A-46F3-9042-E16BF723C04E}" type="presParOf" srcId="{2A082AA2-088E-4496-8409-E559B494766A}" destId="{0B91D0F6-8DB3-4E83-A5BE-673921AF16FF}" srcOrd="3" destOrd="0" presId="urn:microsoft.com/office/officeart/2018/2/layout/IconVerticalSolidList"/>
    <dgm:cxn modelId="{CBA1E768-1FCE-493B-B9AF-EA068F917CFD}" type="presParOf" srcId="{3FC5A8DD-2BA2-4198-91C4-FBC1EDBA2312}" destId="{DE39B61C-303B-4F14-BB53-B48D2ED69D8A}" srcOrd="5" destOrd="0" presId="urn:microsoft.com/office/officeart/2018/2/layout/IconVerticalSolidList"/>
    <dgm:cxn modelId="{328048B4-F4DE-46F0-A02A-016E76AFF22C}" type="presParOf" srcId="{3FC5A8DD-2BA2-4198-91C4-FBC1EDBA2312}" destId="{D6E9006B-84F8-4B10-8872-23A3775195A4}" srcOrd="6" destOrd="0" presId="urn:microsoft.com/office/officeart/2018/2/layout/IconVerticalSolidList"/>
    <dgm:cxn modelId="{7BADD074-9257-4AA5-AA50-D06044866A5C}" type="presParOf" srcId="{D6E9006B-84F8-4B10-8872-23A3775195A4}" destId="{AC448DC3-8DF6-4DC2-8859-7F18CC8B6805}" srcOrd="0" destOrd="0" presId="urn:microsoft.com/office/officeart/2018/2/layout/IconVerticalSolidList"/>
    <dgm:cxn modelId="{5AC47A3B-4142-4E75-9FDA-E1F275BBC839}" type="presParOf" srcId="{D6E9006B-84F8-4B10-8872-23A3775195A4}" destId="{F32CB532-68EF-4C4F-9246-532EB5ECE98A}" srcOrd="1" destOrd="0" presId="urn:microsoft.com/office/officeart/2018/2/layout/IconVerticalSolidList"/>
    <dgm:cxn modelId="{FCB50811-A8F2-464E-A3AF-3966ADF2A47F}" type="presParOf" srcId="{D6E9006B-84F8-4B10-8872-23A3775195A4}" destId="{ADDAED02-150E-42DC-83EE-EC9B869C0C85}" srcOrd="2" destOrd="0" presId="urn:microsoft.com/office/officeart/2018/2/layout/IconVerticalSolidList"/>
    <dgm:cxn modelId="{2F37E98D-8C64-4EF4-AEF7-312DDB8F8BE1}" type="presParOf" srcId="{D6E9006B-84F8-4B10-8872-23A3775195A4}" destId="{FDA3D340-23D5-4962-B47F-EC524555038A}" srcOrd="3" destOrd="0" presId="urn:microsoft.com/office/officeart/2018/2/layout/IconVerticalSolidList"/>
    <dgm:cxn modelId="{B9E6A805-0EB6-4400-A490-4CDA7D5CB321}" type="presParOf" srcId="{3FC5A8DD-2BA2-4198-91C4-FBC1EDBA2312}" destId="{65CA58C0-0537-4ADE-8197-5178B335A670}" srcOrd="7" destOrd="0" presId="urn:microsoft.com/office/officeart/2018/2/layout/IconVerticalSolidList"/>
    <dgm:cxn modelId="{7D4DAD52-B1CE-4665-BA3D-36E5696DE132}" type="presParOf" srcId="{3FC5A8DD-2BA2-4198-91C4-FBC1EDBA2312}" destId="{0D61382D-0CBB-466B-8C23-33FCE9F09621}" srcOrd="8" destOrd="0" presId="urn:microsoft.com/office/officeart/2018/2/layout/IconVerticalSolidList"/>
    <dgm:cxn modelId="{92D84A43-CD63-42F2-A623-44616AA60DB6}" type="presParOf" srcId="{0D61382D-0CBB-466B-8C23-33FCE9F09621}" destId="{AEE9F708-15DD-40E9-8698-5EE134C83C71}" srcOrd="0" destOrd="0" presId="urn:microsoft.com/office/officeart/2018/2/layout/IconVerticalSolidList"/>
    <dgm:cxn modelId="{EBA84E41-F23E-440F-AF21-549AFD03D311}" type="presParOf" srcId="{0D61382D-0CBB-466B-8C23-33FCE9F09621}" destId="{E2B4120B-AC1B-4F75-880C-D1C8B17FEF22}" srcOrd="1" destOrd="0" presId="urn:microsoft.com/office/officeart/2018/2/layout/IconVerticalSolidList"/>
    <dgm:cxn modelId="{EE101D9E-9402-4CA5-BD06-155A4763BAE7}" type="presParOf" srcId="{0D61382D-0CBB-466B-8C23-33FCE9F09621}" destId="{F28C5CD8-027F-49DF-AF92-96DB9F31E87B}" srcOrd="2" destOrd="0" presId="urn:microsoft.com/office/officeart/2018/2/layout/IconVerticalSolidList"/>
    <dgm:cxn modelId="{E0CA7D1C-E78F-4AB5-BF91-6E7DDADDC04B}" type="presParOf" srcId="{0D61382D-0CBB-466B-8C23-33FCE9F09621}" destId="{9557CA1D-F2DC-4EC3-BFE2-4CCB08AE1A9D}" srcOrd="3" destOrd="0" presId="urn:microsoft.com/office/officeart/2018/2/layout/IconVerticalSolidList"/>
    <dgm:cxn modelId="{0FCE998C-D566-4EA2-A050-0647BF7AB670}" type="presParOf" srcId="{3FC5A8DD-2BA2-4198-91C4-FBC1EDBA2312}" destId="{2E80CCDA-B39B-4029-8CBF-DD392F990253}" srcOrd="9" destOrd="0" presId="urn:microsoft.com/office/officeart/2018/2/layout/IconVerticalSolidList"/>
    <dgm:cxn modelId="{82E24D76-7F7C-4120-9A92-79FDD8BBB2CD}" type="presParOf" srcId="{3FC5A8DD-2BA2-4198-91C4-FBC1EDBA2312}" destId="{4F198013-D5CE-4869-A550-26C87D5228A5}" srcOrd="10" destOrd="0" presId="urn:microsoft.com/office/officeart/2018/2/layout/IconVerticalSolidList"/>
    <dgm:cxn modelId="{29049129-E1AB-4815-A47D-0CE3677F3A5B}" type="presParOf" srcId="{4F198013-D5CE-4869-A550-26C87D5228A5}" destId="{0FF4B18B-5A29-491F-BA6B-7C6666453CD3}" srcOrd="0" destOrd="0" presId="urn:microsoft.com/office/officeart/2018/2/layout/IconVerticalSolidList"/>
    <dgm:cxn modelId="{D20546EF-91E3-4612-B175-87DA732ECB1A}" type="presParOf" srcId="{4F198013-D5CE-4869-A550-26C87D5228A5}" destId="{0FB0A15C-4B8E-478C-96CC-92A76E3CB884}" srcOrd="1" destOrd="0" presId="urn:microsoft.com/office/officeart/2018/2/layout/IconVerticalSolidList"/>
    <dgm:cxn modelId="{1D6D10F7-FF9B-40D1-9A10-78490CE2F8E5}" type="presParOf" srcId="{4F198013-D5CE-4869-A550-26C87D5228A5}" destId="{FA4CEB4D-2873-4CA5-ABD6-A1992921F242}" srcOrd="2" destOrd="0" presId="urn:microsoft.com/office/officeart/2018/2/layout/IconVerticalSolidList"/>
    <dgm:cxn modelId="{9C89430C-CFD3-40D0-A56C-FC73B2B1AA35}" type="presParOf" srcId="{4F198013-D5CE-4869-A550-26C87D5228A5}" destId="{F0DA7D56-F96F-492A-AAF8-AC88E5FEF7E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A604C9-7628-4E20-B234-4D4B8AEC37AD}">
      <dsp:nvSpPr>
        <dsp:cNvPr id="0" name=""/>
        <dsp:cNvSpPr/>
      </dsp:nvSpPr>
      <dsp:spPr>
        <a:xfrm>
          <a:off x="0" y="1208"/>
          <a:ext cx="4971603" cy="5147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9DF1BD-9457-4B70-BA22-4AC86E7435F5}">
      <dsp:nvSpPr>
        <dsp:cNvPr id="0" name=""/>
        <dsp:cNvSpPr/>
      </dsp:nvSpPr>
      <dsp:spPr>
        <a:xfrm>
          <a:off x="155725" y="117037"/>
          <a:ext cx="283137" cy="2831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881896-3B00-4C10-A3DF-3760FD132CA2}">
      <dsp:nvSpPr>
        <dsp:cNvPr id="0" name=""/>
        <dsp:cNvSpPr/>
      </dsp:nvSpPr>
      <dsp:spPr>
        <a:xfrm>
          <a:off x="594589" y="1208"/>
          <a:ext cx="4377013" cy="514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83" tIns="54483" rIns="54483" bIns="5448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We will develop a </a:t>
          </a:r>
          <a:r>
            <a:rPr lang="en-US" sz="1500" b="1" i="0" kern="1200" baseline="0" dirty="0"/>
            <a:t>discrete-event simulation</a:t>
          </a:r>
          <a:r>
            <a:rPr lang="en-US" sz="1500" b="0" i="0" kern="1200" baseline="0" dirty="0"/>
            <a:t> of a job shop.</a:t>
          </a:r>
          <a:endParaRPr lang="en-US" sz="1500" kern="1200" dirty="0"/>
        </a:p>
      </dsp:txBody>
      <dsp:txXfrm>
        <a:off x="594589" y="1208"/>
        <a:ext cx="4377013" cy="514795"/>
      </dsp:txXfrm>
    </dsp:sp>
    <dsp:sp modelId="{B6ABC235-F2FA-448B-B377-2447D0D4A810}">
      <dsp:nvSpPr>
        <dsp:cNvPr id="0" name=""/>
        <dsp:cNvSpPr/>
      </dsp:nvSpPr>
      <dsp:spPr>
        <a:xfrm>
          <a:off x="0" y="644702"/>
          <a:ext cx="4971603" cy="5147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CD9CAC-4DCF-4749-9883-917455D47861}">
      <dsp:nvSpPr>
        <dsp:cNvPr id="0" name=""/>
        <dsp:cNvSpPr/>
      </dsp:nvSpPr>
      <dsp:spPr>
        <a:xfrm>
          <a:off x="155725" y="760531"/>
          <a:ext cx="283137" cy="2831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2EAB39-340D-48D6-AD39-859E29F21BF4}">
      <dsp:nvSpPr>
        <dsp:cNvPr id="0" name=""/>
        <dsp:cNvSpPr/>
      </dsp:nvSpPr>
      <dsp:spPr>
        <a:xfrm>
          <a:off x="594589" y="644702"/>
          <a:ext cx="4377013" cy="514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83" tIns="54483" rIns="54483" bIns="5448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This virtual factory will model:</a:t>
          </a:r>
          <a:endParaRPr lang="en-US" sz="1500" kern="1200"/>
        </a:p>
      </dsp:txBody>
      <dsp:txXfrm>
        <a:off x="594589" y="644702"/>
        <a:ext cx="4377013" cy="514795"/>
      </dsp:txXfrm>
    </dsp:sp>
    <dsp:sp modelId="{C202C518-BD02-4CB8-9CBB-DC2190567928}">
      <dsp:nvSpPr>
        <dsp:cNvPr id="0" name=""/>
        <dsp:cNvSpPr/>
      </dsp:nvSpPr>
      <dsp:spPr>
        <a:xfrm>
          <a:off x="0" y="1288197"/>
          <a:ext cx="4971603" cy="5147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05EB4A-B860-43EE-8BC6-76F45BEB2264}">
      <dsp:nvSpPr>
        <dsp:cNvPr id="0" name=""/>
        <dsp:cNvSpPr/>
      </dsp:nvSpPr>
      <dsp:spPr>
        <a:xfrm>
          <a:off x="155725" y="1404026"/>
          <a:ext cx="283137" cy="2831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1D0F6-8DB3-4E83-A5BE-673921AF16FF}">
      <dsp:nvSpPr>
        <dsp:cNvPr id="0" name=""/>
        <dsp:cNvSpPr/>
      </dsp:nvSpPr>
      <dsp:spPr>
        <a:xfrm>
          <a:off x="594589" y="1288197"/>
          <a:ext cx="4377013" cy="514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83" tIns="54483" rIns="54483" bIns="5448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A set of machines with specific capabilities.</a:t>
          </a:r>
          <a:endParaRPr lang="en-US" sz="1500" kern="1200"/>
        </a:p>
      </dsp:txBody>
      <dsp:txXfrm>
        <a:off x="594589" y="1288197"/>
        <a:ext cx="4377013" cy="514795"/>
      </dsp:txXfrm>
    </dsp:sp>
    <dsp:sp modelId="{AC448DC3-8DF6-4DC2-8859-7F18CC8B6805}">
      <dsp:nvSpPr>
        <dsp:cNvPr id="0" name=""/>
        <dsp:cNvSpPr/>
      </dsp:nvSpPr>
      <dsp:spPr>
        <a:xfrm>
          <a:off x="0" y="1931692"/>
          <a:ext cx="4971603" cy="5147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2CB532-68EF-4C4F-9246-532EB5ECE98A}">
      <dsp:nvSpPr>
        <dsp:cNvPr id="0" name=""/>
        <dsp:cNvSpPr/>
      </dsp:nvSpPr>
      <dsp:spPr>
        <a:xfrm>
          <a:off x="155725" y="2047521"/>
          <a:ext cx="283137" cy="2831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A3D340-23D5-4962-B47F-EC524555038A}">
      <dsp:nvSpPr>
        <dsp:cNvPr id="0" name=""/>
        <dsp:cNvSpPr/>
      </dsp:nvSpPr>
      <dsp:spPr>
        <a:xfrm>
          <a:off x="594589" y="1931692"/>
          <a:ext cx="4377013" cy="514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83" tIns="54483" rIns="54483" bIns="5448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A queue of jobs, each with a sequence of operations and processing times.</a:t>
          </a:r>
          <a:endParaRPr lang="en-US" sz="1500" kern="1200"/>
        </a:p>
      </dsp:txBody>
      <dsp:txXfrm>
        <a:off x="594589" y="1931692"/>
        <a:ext cx="4377013" cy="514795"/>
      </dsp:txXfrm>
    </dsp:sp>
    <dsp:sp modelId="{AEE9F708-15DD-40E9-8698-5EE134C83C71}">
      <dsp:nvSpPr>
        <dsp:cNvPr id="0" name=""/>
        <dsp:cNvSpPr/>
      </dsp:nvSpPr>
      <dsp:spPr>
        <a:xfrm>
          <a:off x="0" y="2575187"/>
          <a:ext cx="4971603" cy="5147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B4120B-AC1B-4F75-880C-D1C8B17FEF22}">
      <dsp:nvSpPr>
        <dsp:cNvPr id="0" name=""/>
        <dsp:cNvSpPr/>
      </dsp:nvSpPr>
      <dsp:spPr>
        <a:xfrm>
          <a:off x="155725" y="2691016"/>
          <a:ext cx="283137" cy="28313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57CA1D-F2DC-4EC3-BFE2-4CCB08AE1A9D}">
      <dsp:nvSpPr>
        <dsp:cNvPr id="0" name=""/>
        <dsp:cNvSpPr/>
      </dsp:nvSpPr>
      <dsp:spPr>
        <a:xfrm>
          <a:off x="594589" y="2575187"/>
          <a:ext cx="4377013" cy="514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83" tIns="54483" rIns="54483" bIns="5448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The simulation will be the "playground" where our RL agent learns and is tested.</a:t>
          </a:r>
          <a:endParaRPr lang="en-US" sz="1500" kern="1200"/>
        </a:p>
      </dsp:txBody>
      <dsp:txXfrm>
        <a:off x="594589" y="2575187"/>
        <a:ext cx="4377013" cy="514795"/>
      </dsp:txXfrm>
    </dsp:sp>
    <dsp:sp modelId="{0FF4B18B-5A29-491F-BA6B-7C6666453CD3}">
      <dsp:nvSpPr>
        <dsp:cNvPr id="0" name=""/>
        <dsp:cNvSpPr/>
      </dsp:nvSpPr>
      <dsp:spPr>
        <a:xfrm>
          <a:off x="0" y="3218682"/>
          <a:ext cx="4971603" cy="5147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B0A15C-4B8E-478C-96CC-92A76E3CB884}">
      <dsp:nvSpPr>
        <dsp:cNvPr id="0" name=""/>
        <dsp:cNvSpPr/>
      </dsp:nvSpPr>
      <dsp:spPr>
        <a:xfrm>
          <a:off x="155725" y="3334511"/>
          <a:ext cx="283137" cy="28313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DA7D56-F96F-492A-AAF8-AC88E5FEF7E0}">
      <dsp:nvSpPr>
        <dsp:cNvPr id="0" name=""/>
        <dsp:cNvSpPr/>
      </dsp:nvSpPr>
      <dsp:spPr>
        <a:xfrm>
          <a:off x="594589" y="3218682"/>
          <a:ext cx="4377013" cy="514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83" tIns="54483" rIns="54483" bIns="5448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dirty="0"/>
            <a:t>Tool:</a:t>
          </a:r>
          <a:r>
            <a:rPr lang="en-US" sz="1500" b="0" i="0" kern="1200" baseline="0" dirty="0"/>
            <a:t> We plan to use </a:t>
          </a:r>
          <a:r>
            <a:rPr lang="en-US" sz="1500" b="0" i="0" kern="1200" baseline="0" dirty="0" err="1"/>
            <a:t>simpy</a:t>
          </a:r>
          <a:r>
            <a:rPr lang="en-US" sz="1500" b="0" i="0" kern="1200" baseline="0" dirty="0"/>
            <a:t> or build a custom environment in Python.</a:t>
          </a:r>
          <a:endParaRPr lang="en-US" sz="1500" kern="1200" dirty="0"/>
        </a:p>
      </dsp:txBody>
      <dsp:txXfrm>
        <a:off x="594589" y="3218682"/>
        <a:ext cx="4377013" cy="5147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3c59084a2_0_7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g313c59084a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14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9955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14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5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14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09597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14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60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14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41907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14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39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14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17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14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62582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14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621788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14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5380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14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18368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14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971517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14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144596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14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158152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14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68369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14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84016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pPr marL="514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4728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ifshu/JOB_SHOP-CASE-STUDY-Main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6350"/>
            <a:ext cx="9144001" cy="5149850"/>
            <a:chOff x="0" y="-8467"/>
            <a:chExt cx="12192000" cy="68664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76DF32A-2859-A118-E4AD-774C9ED571D6}"/>
              </a:ext>
            </a:extLst>
          </p:cNvPr>
          <p:cNvSpPr txBox="1"/>
          <p:nvPr/>
        </p:nvSpPr>
        <p:spPr>
          <a:xfrm>
            <a:off x="3934190" y="392310"/>
            <a:ext cx="3381010" cy="16243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OPTIMIZING JOB SHOP SCHEDULING WITH REINFORCEMENT 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2AE19-0EC3-9A1B-F8DE-DB19B01370A5}"/>
              </a:ext>
            </a:extLst>
          </p:cNvPr>
          <p:cNvSpPr txBox="1"/>
          <p:nvPr/>
        </p:nvSpPr>
        <p:spPr>
          <a:xfrm>
            <a:off x="6134100" y="2761059"/>
            <a:ext cx="2628900" cy="22743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lvl="0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sym typeface="Lucida Sans"/>
              </a:rPr>
              <a:t>Group Members :</a:t>
            </a:r>
          </a:p>
          <a:p>
            <a:pPr marL="457200" lvl="0" indent="-330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Lucida Sans"/>
              </a:rPr>
              <a:t>Sanaboyina Satya Narasimha</a:t>
            </a:r>
          </a:p>
          <a:p>
            <a:pPr marL="457200" lvl="0" indent="-330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sym typeface="Lucida Sans"/>
              </a:rPr>
              <a:t>Rifshu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Lucida Sans"/>
              </a:rPr>
              <a:t> Hussain Shaik</a:t>
            </a:r>
          </a:p>
          <a:p>
            <a:pPr marL="457200" lvl="0" indent="-330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Lucida Sans"/>
              </a:rPr>
              <a:t>Gnanasudha Patur</a:t>
            </a:r>
          </a:p>
          <a:p>
            <a:pPr marL="457200" lvl="0" indent="-330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Lucida Sans"/>
              </a:rPr>
              <a:t>Alwin Shaji</a:t>
            </a:r>
          </a:p>
          <a:p>
            <a:pPr marL="457200" lvl="0" indent="-330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Lucida Sans"/>
              </a:rPr>
              <a:t>Ankith Ramesh Babu</a:t>
            </a:r>
          </a:p>
        </p:txBody>
      </p:sp>
      <p:pic>
        <p:nvPicPr>
          <p:cNvPr id="3" name="Picture 2" descr="A machine room with many machines and a hand touching it&#10;&#10;AI-generated content may be incorrect.">
            <a:extLst>
              <a:ext uri="{FF2B5EF4-FFF2-40B4-BE49-F238E27FC236}">
                <a16:creationId xmlns:a16="http://schemas.microsoft.com/office/drawing/2014/main" id="{7E255522-05DC-8F2F-F95A-7A82FD0226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67" r="10669" b="2"/>
          <a:stretch>
            <a:fillRect/>
          </a:stretch>
        </p:blipFill>
        <p:spPr>
          <a:xfrm>
            <a:off x="20" y="10"/>
            <a:ext cx="4046200" cy="5143490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4249615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986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6350"/>
            <a:ext cx="9144001" cy="5149850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DC8129-C5BE-9A7D-B0D2-28FA144DA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84C31-7D0B-00F9-1A44-AD5B4D172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620441"/>
            <a:ext cx="6447501" cy="2910580"/>
          </a:xfrm>
        </p:spPr>
        <p:txBody>
          <a:bodyPr>
            <a:normAutofit/>
          </a:bodyPr>
          <a:lstStyle/>
          <a:p>
            <a:r>
              <a:rPr lang="en-US" sz="1200" b="1" dirty="0"/>
              <a:t>The Challenge: The Job Shop Scheduling Problem (JSSP)</a:t>
            </a:r>
          </a:p>
          <a:p>
            <a:r>
              <a:rPr lang="en-US" sz="1200" dirty="0"/>
              <a:t>A classic, complex optimization problem found in manufacturing and logistics.</a:t>
            </a:r>
          </a:p>
          <a:p>
            <a:r>
              <a:rPr lang="en-US" sz="1200" b="1" dirty="0"/>
              <a:t>Goal:</a:t>
            </a:r>
            <a:r>
              <a:rPr lang="en-US" sz="1200" dirty="0"/>
              <a:t> Schedule a set of jobs on a set of machines to optimize for a specific outcome.</a:t>
            </a:r>
          </a:p>
          <a:p>
            <a:r>
              <a:rPr lang="en-US" sz="1200" dirty="0"/>
              <a:t>Traditional methods are often rigid and struggle with dynamic, real-world factory conditions.</a:t>
            </a:r>
          </a:p>
          <a:p>
            <a:r>
              <a:rPr lang="en-US" sz="1200" b="1" dirty="0"/>
              <a:t>Our Solution: Reinforcement Learning (RL)</a:t>
            </a:r>
          </a:p>
          <a:p>
            <a:r>
              <a:rPr lang="en-US" sz="1200" dirty="0"/>
              <a:t>We propose an intelligent agent that learns the best scheduling policies through trial and error.</a:t>
            </a:r>
          </a:p>
          <a:p>
            <a:r>
              <a:rPr lang="en-US" sz="1200" b="1" dirty="0"/>
              <a:t>Why RL?</a:t>
            </a:r>
            <a:r>
              <a:rPr lang="en-US" sz="1200" dirty="0"/>
              <a:t> It's adaptive, scalable, and can discover non-obvious strategies, making it ideal for dynamic environments.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2297665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6350"/>
            <a:ext cx="9144001" cy="5149850"/>
            <a:chOff x="0" y="-8467"/>
            <a:chExt cx="12192000" cy="6866467"/>
          </a:xfrm>
        </p:grpSpPr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8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9" name="Isosceles Triangle 158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0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1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2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3" name="Isosceles Triangle 162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4" name="Isosceles Triangle 163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526EEA5-DC5F-BCF6-F62A-943845D7D84B}"/>
              </a:ext>
            </a:extLst>
          </p:cNvPr>
          <p:cNvSpPr txBox="1"/>
          <p:nvPr/>
        </p:nvSpPr>
        <p:spPr>
          <a:xfrm>
            <a:off x="4152550" y="457200"/>
            <a:ext cx="280295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Project Scope &amp; Objectives</a:t>
            </a:r>
            <a:endParaRPr lang="en-US" sz="31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39D214-BCDC-C5EE-540D-CA6640ECBDEF}"/>
              </a:ext>
            </a:extLst>
          </p:cNvPr>
          <p:cNvSpPr txBox="1"/>
          <p:nvPr/>
        </p:nvSpPr>
        <p:spPr>
          <a:xfrm>
            <a:off x="3907172" y="1620441"/>
            <a:ext cx="3048329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Primary Goal</a:t>
            </a: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design, build, and evaluate an RL-based framework for solving the JSSP.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Our Core Objectives: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Build a Simulation: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Create a virtual job shop environment.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 an RL Agent: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Implement and train an intelligent agent to make scheduling decisions.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Compare Performance: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Benchmark our RL agent against standard scheduling rules.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Evaluate Results: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Use key industry metrics to measure the effectiveness of our solution.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20" name="Picture 119" descr="A person reaching for a paper on a table full of paper and sticky notes">
            <a:extLst>
              <a:ext uri="{FF2B5EF4-FFF2-40B4-BE49-F238E27FC236}">
                <a16:creationId xmlns:a16="http://schemas.microsoft.com/office/drawing/2014/main" id="{507DA58E-32BE-837C-AD4F-8355FC2375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652" r="23838"/>
          <a:stretch>
            <a:fillRect/>
          </a:stretch>
        </p:blipFill>
        <p:spPr>
          <a:xfrm>
            <a:off x="20" y="10"/>
            <a:ext cx="4046200" cy="5143490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65" name="Isosceles Triangle 164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4249615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" name="Google Shape;78;p9"/>
          <p:cNvSpPr txBox="1">
            <a:spLocks noGrp="1"/>
          </p:cNvSpPr>
          <p:nvPr>
            <p:ph type="sldNum" sz="quarter" idx="12"/>
          </p:nvPr>
        </p:nvSpPr>
        <p:spPr>
          <a:xfrm>
            <a:off x="6631497" y="4531021"/>
            <a:ext cx="324004" cy="27384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700" smtClean="0"/>
              <a:pPr lvl="0" indent="0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3</a:t>
            </a:fld>
            <a:endParaRPr lang="en-US" sz="7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0383E7-6D9E-16E7-0551-5EB68CA15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60" y="1036864"/>
            <a:ext cx="2660686" cy="3069771"/>
          </a:xfrm>
        </p:spPr>
        <p:txBody>
          <a:bodyPr anchor="ctr">
            <a:normAutofit/>
          </a:bodyPr>
          <a:lstStyle/>
          <a:p>
            <a:r>
              <a:rPr lang="en-IN" sz="3300" dirty="0"/>
              <a:t>The Simulation Environment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6350"/>
            <a:ext cx="3575050" cy="5149850"/>
            <a:chOff x="7425267" y="-8467"/>
            <a:chExt cx="4766733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13F51AD-E798-99C3-FDEE-AE9CCDDAF9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9707795"/>
              </p:ext>
            </p:extLst>
          </p:nvPr>
        </p:nvGraphicFramePr>
        <p:xfrm>
          <a:off x="3687414" y="708422"/>
          <a:ext cx="4971603" cy="3734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3481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6350"/>
            <a:ext cx="9144001" cy="5149850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D4D9F-795C-7383-E570-07E8EA670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</p:spPr>
        <p:txBody>
          <a:bodyPr>
            <a:normAutofit/>
          </a:bodyPr>
          <a:lstStyle/>
          <a:p>
            <a:r>
              <a:rPr lang="en-IN" dirty="0"/>
              <a:t>Baselines for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74CC8-97FC-C03A-F60C-D65B4BD55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620441"/>
            <a:ext cx="6447501" cy="2910580"/>
          </a:xfrm>
        </p:spPr>
        <p:txBody>
          <a:bodyPr>
            <a:normAutofit/>
          </a:bodyPr>
          <a:lstStyle/>
          <a:p>
            <a:r>
              <a:rPr lang="en-US" dirty="0"/>
              <a:t>To prove our RL agent is effective, we need to compare it against established methods.</a:t>
            </a:r>
          </a:p>
          <a:p>
            <a:r>
              <a:rPr lang="en-US" b="1" dirty="0"/>
              <a:t>Our Baseline Heuristics:</a:t>
            </a:r>
            <a:endParaRPr lang="en-US" dirty="0"/>
          </a:p>
          <a:p>
            <a:pPr lvl="1"/>
            <a:r>
              <a:rPr lang="en-US" b="1" dirty="0"/>
              <a:t>First-In-First-Out (FIFO):</a:t>
            </a:r>
            <a:r>
              <a:rPr lang="en-US" dirty="0"/>
              <a:t> The simplest rule. Jobs are processed in the order they arrive.</a:t>
            </a:r>
          </a:p>
          <a:p>
            <a:pPr lvl="1"/>
            <a:r>
              <a:rPr lang="en-US" b="1" dirty="0"/>
              <a:t>Shortest Processing Time (SPT):</a:t>
            </a:r>
            <a:r>
              <a:rPr lang="en-US" dirty="0"/>
              <a:t> The job that requires the least amount of time on a machine is scheduled next.</a:t>
            </a:r>
          </a:p>
          <a:p>
            <a:r>
              <a:rPr lang="en-US" dirty="0"/>
              <a:t>These simple but effective rules will serve as our performance benchmark.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1417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E40B0-63EE-A863-3737-DA14101E0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457200"/>
            <a:ext cx="3048329" cy="990600"/>
          </a:xfrm>
        </p:spPr>
        <p:txBody>
          <a:bodyPr>
            <a:normAutofit/>
          </a:bodyPr>
          <a:lstStyle/>
          <a:p>
            <a:r>
              <a:rPr lang="en-IN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88D65-0E8B-2EA9-0036-47A90779F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1620441"/>
            <a:ext cx="3048329" cy="291058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IN" sz="1300"/>
              <a:t>We will use a modern, open-source tech stack for this project.</a:t>
            </a:r>
          </a:p>
          <a:p>
            <a:pPr>
              <a:lnSpc>
                <a:spcPct val="90000"/>
              </a:lnSpc>
            </a:pPr>
            <a:r>
              <a:rPr lang="en-IN" sz="1300" b="1"/>
              <a:t>Programming Language:</a:t>
            </a:r>
            <a:endParaRPr lang="en-IN" sz="1300"/>
          </a:p>
          <a:p>
            <a:pPr lvl="1">
              <a:lnSpc>
                <a:spcPct val="90000"/>
              </a:lnSpc>
            </a:pPr>
            <a:r>
              <a:rPr lang="en-IN" sz="1300"/>
              <a:t>Python 3.9+</a:t>
            </a:r>
          </a:p>
          <a:p>
            <a:pPr>
              <a:lnSpc>
                <a:spcPct val="90000"/>
              </a:lnSpc>
            </a:pPr>
            <a:r>
              <a:rPr lang="en-IN" sz="1300" b="1"/>
              <a:t>Simulation &amp; RL Frameworks:</a:t>
            </a:r>
            <a:endParaRPr lang="en-IN" sz="1300"/>
          </a:p>
          <a:p>
            <a:pPr lvl="1">
              <a:lnSpc>
                <a:spcPct val="90000"/>
              </a:lnSpc>
            </a:pPr>
            <a:r>
              <a:rPr lang="en-IN" sz="1300" err="1"/>
              <a:t>simpy</a:t>
            </a:r>
            <a:r>
              <a:rPr lang="en-IN" sz="1300"/>
              <a:t> for the environment.</a:t>
            </a:r>
          </a:p>
          <a:p>
            <a:pPr lvl="1">
              <a:lnSpc>
                <a:spcPct val="90000"/>
              </a:lnSpc>
            </a:pPr>
            <a:r>
              <a:rPr lang="en-IN" sz="1300"/>
              <a:t>Stable-Baselines3 or </a:t>
            </a:r>
            <a:r>
              <a:rPr lang="en-IN" sz="1300" err="1"/>
              <a:t>PyTorch</a:t>
            </a:r>
            <a:r>
              <a:rPr lang="en-IN" sz="1300"/>
              <a:t> to build and train the RL agent.</a:t>
            </a:r>
          </a:p>
          <a:p>
            <a:pPr>
              <a:lnSpc>
                <a:spcPct val="90000"/>
              </a:lnSpc>
            </a:pPr>
            <a:r>
              <a:rPr lang="en-IN" sz="1300" b="1"/>
              <a:t>Data Analysis &amp; Visualization:</a:t>
            </a:r>
            <a:endParaRPr lang="en-IN" sz="1300"/>
          </a:p>
          <a:p>
            <a:pPr lvl="1">
              <a:lnSpc>
                <a:spcPct val="90000"/>
              </a:lnSpc>
            </a:pPr>
            <a:r>
              <a:rPr lang="en-IN" sz="1300"/>
              <a:t>pandas &amp; </a:t>
            </a:r>
            <a:r>
              <a:rPr lang="en-IN" sz="1300" err="1"/>
              <a:t>numpy</a:t>
            </a:r>
            <a:r>
              <a:rPr lang="en-IN" sz="1300"/>
              <a:t> for data manipulation.</a:t>
            </a:r>
          </a:p>
          <a:p>
            <a:pPr lvl="1">
              <a:lnSpc>
                <a:spcPct val="90000"/>
              </a:lnSpc>
            </a:pPr>
            <a:r>
              <a:rPr lang="en-IN" sz="1300"/>
              <a:t>matplotlib &amp; seaborn for plotting our results.</a:t>
            </a:r>
          </a:p>
          <a:p>
            <a:pPr>
              <a:lnSpc>
                <a:spcPct val="90000"/>
              </a:lnSpc>
            </a:pPr>
            <a:r>
              <a:rPr lang="en-IN" sz="1300" b="1"/>
              <a:t>Collaboration &amp; Version Control:</a:t>
            </a:r>
            <a:endParaRPr lang="en-IN" sz="1300"/>
          </a:p>
          <a:p>
            <a:pPr lvl="1">
              <a:lnSpc>
                <a:spcPct val="90000"/>
              </a:lnSpc>
            </a:pPr>
            <a:r>
              <a:rPr lang="en-IN" sz="1300"/>
              <a:t>Git &amp; GitHub</a:t>
            </a:r>
          </a:p>
          <a:p>
            <a:pPr>
              <a:lnSpc>
                <a:spcPct val="90000"/>
              </a:lnSpc>
            </a:pPr>
            <a:endParaRPr lang="en-IN" sz="1300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7309333B-82CD-CDCD-4432-C88FAB370C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61" r="15539"/>
          <a:stretch>
            <a:fillRect/>
          </a:stretch>
        </p:blipFill>
        <p:spPr>
          <a:xfrm>
            <a:off x="20" y="10"/>
            <a:ext cx="4046200" cy="5143490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4249615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48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6350"/>
            <a:ext cx="9144001" cy="5149850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C8A508-0D01-CB14-7255-0B6BCCBED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</p:spPr>
        <p:txBody>
          <a:bodyPr>
            <a:normAutofit/>
          </a:bodyPr>
          <a:lstStyle/>
          <a:p>
            <a:r>
              <a:rPr lang="en-US" dirty="0"/>
              <a:t>Evaluation Method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8FBDE-75CF-2483-FC45-A87901FD0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620441"/>
            <a:ext cx="6447501" cy="291058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We will measure the performance of our scheduling policies using standard industry metrics:</a:t>
            </a:r>
          </a:p>
          <a:p>
            <a:pPr>
              <a:lnSpc>
                <a:spcPct val="90000"/>
              </a:lnSpc>
            </a:pPr>
            <a:r>
              <a:rPr lang="en-US" sz="1700" b="1" dirty="0" err="1"/>
              <a:t>Makespan</a:t>
            </a:r>
            <a:r>
              <a:rPr lang="en-US" sz="1700" b="1" dirty="0"/>
              <a:t>:</a:t>
            </a:r>
            <a:endParaRPr lang="en-US" sz="1700" dirty="0"/>
          </a:p>
          <a:p>
            <a:pPr lvl="1">
              <a:lnSpc>
                <a:spcPct val="90000"/>
              </a:lnSpc>
            </a:pPr>
            <a:r>
              <a:rPr lang="en-US" sz="1700" dirty="0"/>
              <a:t>The total time elapsed from the start of the first job to the completion of the last job.</a:t>
            </a:r>
          </a:p>
          <a:p>
            <a:pPr lvl="1">
              <a:lnSpc>
                <a:spcPct val="90000"/>
              </a:lnSpc>
            </a:pPr>
            <a:r>
              <a:rPr lang="en-US" sz="1700" i="1" dirty="0"/>
              <a:t>Lower is better.</a:t>
            </a: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b="1" dirty="0"/>
              <a:t>Machine Utilization:</a:t>
            </a:r>
            <a:endParaRPr lang="en-US" sz="1700" dirty="0"/>
          </a:p>
          <a:p>
            <a:pPr lvl="1">
              <a:lnSpc>
                <a:spcPct val="90000"/>
              </a:lnSpc>
            </a:pPr>
            <a:r>
              <a:rPr lang="en-US" sz="1700" dirty="0"/>
              <a:t>The percentage of time that machines are busy processing jobs.</a:t>
            </a:r>
          </a:p>
          <a:p>
            <a:pPr lvl="1">
              <a:lnSpc>
                <a:spcPct val="90000"/>
              </a:lnSpc>
            </a:pPr>
            <a:r>
              <a:rPr lang="en-US" sz="1700" i="1" dirty="0"/>
              <a:t>Higher is better.</a:t>
            </a: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b="1" dirty="0"/>
              <a:t>Job Tardiness:</a:t>
            </a:r>
            <a:endParaRPr lang="en-US" sz="1700" dirty="0"/>
          </a:p>
          <a:p>
            <a:pPr lvl="1">
              <a:lnSpc>
                <a:spcPct val="90000"/>
              </a:lnSpc>
            </a:pPr>
            <a:r>
              <a:rPr lang="en-US" sz="1700" dirty="0"/>
              <a:t>The amount of time by which a job is completed after its due date.</a:t>
            </a:r>
          </a:p>
          <a:p>
            <a:pPr lvl="1">
              <a:lnSpc>
                <a:spcPct val="90000"/>
              </a:lnSpc>
            </a:pPr>
            <a:r>
              <a:rPr lang="en-US" sz="1700" i="1" dirty="0"/>
              <a:t>Lower is better.</a:t>
            </a:r>
            <a:endParaRPr lang="en-US" sz="1700" dirty="0"/>
          </a:p>
          <a:p>
            <a:pPr>
              <a:lnSpc>
                <a:spcPct val="90000"/>
              </a:lnSpc>
            </a:pP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3021941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6350"/>
            <a:ext cx="9144001" cy="5149850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AF0784-77EB-7C39-8260-69485A8FA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</p:spPr>
        <p:txBody>
          <a:bodyPr>
            <a:normAutofit/>
          </a:bodyPr>
          <a:lstStyle/>
          <a:p>
            <a:r>
              <a:rPr lang="en-US" dirty="0"/>
              <a:t>Path to an Optimal Agent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4CDDB-2AB3-1741-4AB5-E365DC81E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620441"/>
            <a:ext cx="6447501" cy="2910580"/>
          </a:xfrm>
        </p:spPr>
        <p:txBody>
          <a:bodyPr>
            <a:normAutofit/>
          </a:bodyPr>
          <a:lstStyle/>
          <a:p>
            <a:r>
              <a:rPr lang="en-US" dirty="0"/>
              <a:t>A key part of our work will be experimenting to find the best model.</a:t>
            </a:r>
          </a:p>
          <a:p>
            <a:r>
              <a:rPr lang="en-US" b="1" dirty="0"/>
              <a:t>How we'll experiment:</a:t>
            </a:r>
            <a:endParaRPr lang="en-US" dirty="0"/>
          </a:p>
          <a:p>
            <a:pPr lvl="1"/>
            <a:r>
              <a:rPr lang="en-US" b="1" dirty="0"/>
              <a:t>Varying Problem Size:</a:t>
            </a:r>
            <a:r>
              <a:rPr lang="en-US" dirty="0"/>
              <a:t> Test the agent on different scales (e.g., 3x3, 5x5, 10x10 job-machine problems).</a:t>
            </a:r>
          </a:p>
          <a:p>
            <a:pPr lvl="1"/>
            <a:r>
              <a:rPr lang="en-US" b="1" dirty="0"/>
              <a:t>Hyperparameter Tuning:</a:t>
            </a:r>
            <a:r>
              <a:rPr lang="en-US" dirty="0"/>
              <a:t> Adjust the RL agent's settings (like learning rate and discount factor) to improve performance.</a:t>
            </a:r>
          </a:p>
          <a:p>
            <a:pPr lvl="1"/>
            <a:r>
              <a:rPr lang="en-US" b="1" dirty="0"/>
              <a:t>Algorithm Comparison:</a:t>
            </a:r>
            <a:r>
              <a:rPr lang="en-US" dirty="0"/>
              <a:t> We may test different RL algorithms (Q-learning) to see which learns more effectively.</a:t>
            </a:r>
          </a:p>
          <a:p>
            <a:pPr lvl="1"/>
            <a:r>
              <a:rPr lang="en-US" b="1" dirty="0"/>
              <a:t>Reward Function Engineering:</a:t>
            </a:r>
            <a:r>
              <a:rPr lang="en-US" dirty="0"/>
              <a:t> The core of RL! We will experiment with different reward structures to guide the agent toward the most optimal schedules.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4373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65032" y="0"/>
            <a:ext cx="914400" cy="51435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599781" y="2761059"/>
            <a:ext cx="3572669" cy="2382441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93473" y="-6350"/>
            <a:ext cx="2255512" cy="5149850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947" y="-6350"/>
            <a:ext cx="1941419" cy="5149850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06616" y="2286000"/>
            <a:ext cx="2444750" cy="28575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8241" y="-6350"/>
            <a:ext cx="2140744" cy="514985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6115" y="2692400"/>
            <a:ext cx="1362870" cy="2451100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4E00F7-41BF-DDC0-B489-A060EF31A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457200"/>
            <a:ext cx="2882531" cy="3881718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Future Steps: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1615" y="-6350"/>
            <a:ext cx="5332385" cy="5149850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F31E7-2159-6920-E38C-75864886B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063" y="457200"/>
            <a:ext cx="4133472" cy="3881718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Our Main Goals:</a:t>
            </a:r>
            <a:endParaRPr lang="en-US" dirty="0">
              <a:solidFill>
                <a:srgbClr val="FFFFFF"/>
              </a:solidFill>
            </a:endParaRPr>
          </a:p>
          <a:p>
            <a:pPr lvl="1"/>
            <a:r>
              <a:rPr lang="en-US" dirty="0">
                <a:solidFill>
                  <a:srgbClr val="FFFFFF"/>
                </a:solidFill>
              </a:rPr>
              <a:t>A basic, working simulation of a small job shop (3 machines, 5 jobs).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A simple RL agent that can take actions in the simulation.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A clearly defined state, action, and reward space.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A GitHub repository with our initial code base.</a:t>
            </a:r>
          </a:p>
          <a:p>
            <a:pPr lvl="1"/>
            <a:endParaRPr lang="en-US" dirty="0">
              <a:solidFill>
                <a:srgbClr val="FFFFFF"/>
              </a:solidFill>
            </a:endParaRPr>
          </a:p>
          <a:p>
            <a:r>
              <a:rPr lang="en-US" b="1" dirty="0">
                <a:solidFill>
                  <a:srgbClr val="FFFFFF"/>
                </a:solidFill>
              </a:rPr>
              <a:t>GitHub repository: </a:t>
            </a:r>
            <a:r>
              <a:rPr lang="en-US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https://github.com/rifshu/JOB_SHOP-CASE-STUDY-Main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316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a hand holding a sign that says thank you for your attention">
            <a:extLst>
              <a:ext uri="{FF2B5EF4-FFF2-40B4-BE49-F238E27FC236}">
                <a16:creationId xmlns:a16="http://schemas.microsoft.com/office/drawing/2014/main" id="{DE58E8F1-0F8A-2A79-0656-730B98E9C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08" y="701131"/>
            <a:ext cx="4738168" cy="4442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64;p7">
            <a:extLst>
              <a:ext uri="{FF2B5EF4-FFF2-40B4-BE49-F238E27FC236}">
                <a16:creationId xmlns:a16="http://schemas.microsoft.com/office/drawing/2014/main" id="{093CAEA3-91C9-424E-A113-CC761ACCF8BE}"/>
              </a:ext>
            </a:extLst>
          </p:cNvPr>
          <p:cNvSpPr txBox="1"/>
          <p:nvPr/>
        </p:nvSpPr>
        <p:spPr>
          <a:xfrm>
            <a:off x="5537924" y="3241589"/>
            <a:ext cx="3478777" cy="1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latin typeface="Lucida Sans"/>
                <a:ea typeface="Lucida Sans"/>
                <a:cs typeface="Lucida Sans"/>
                <a:sym typeface="Lucida Sans"/>
              </a:rPr>
              <a:t>Group</a:t>
            </a:r>
            <a:r>
              <a:rPr lang="en-US" sz="1600" b="1">
                <a:solidFill>
                  <a:schemeClr val="tx1"/>
                </a:solidFill>
                <a:latin typeface="Lucida Sans"/>
                <a:ea typeface="Lucida Sans"/>
                <a:cs typeface="Lucida Sans"/>
                <a:sym typeface="Lucida Sans"/>
              </a:rPr>
              <a:t> Members :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cida Sans"/>
              <a:buChar char="●"/>
            </a:pPr>
            <a:r>
              <a:rPr lang="en-US" sz="1600">
                <a:solidFill>
                  <a:schemeClr val="tx1"/>
                </a:solidFill>
                <a:latin typeface="Lucida Sans"/>
                <a:ea typeface="Lucida Sans"/>
                <a:cs typeface="Lucida Sans"/>
                <a:sym typeface="Lucida Sans"/>
              </a:rPr>
              <a:t>Sanaboyina Satya Narasimha</a:t>
            </a:r>
          </a:p>
          <a:p>
            <a:pPr marL="457200" lvl="0" indent="-330200">
              <a:buClr>
                <a:schemeClr val="lt1"/>
              </a:buClr>
              <a:buSzPts val="1600"/>
              <a:buFont typeface="Lucida Sans"/>
              <a:buChar char="●"/>
            </a:pPr>
            <a:r>
              <a:rPr lang="en-US" sz="1600">
                <a:latin typeface="Lucida Sans"/>
                <a:ea typeface="Lucida Sans"/>
                <a:cs typeface="Lucida Sans"/>
                <a:sym typeface="Lucida Sans"/>
              </a:rPr>
              <a:t>Rifshu Hussain Shaik</a:t>
            </a:r>
          </a:p>
          <a:p>
            <a:pPr marL="457200" lvl="0" indent="-330200">
              <a:buClr>
                <a:schemeClr val="lt1"/>
              </a:buClr>
              <a:buSzPts val="1600"/>
              <a:buFont typeface="Lucida Sans"/>
              <a:buChar char="●"/>
            </a:pPr>
            <a:r>
              <a:rPr lang="en-US" sz="1600">
                <a:latin typeface="Lucida Sans"/>
                <a:ea typeface="Lucida Sans"/>
                <a:cs typeface="Lucida Sans"/>
                <a:sym typeface="Lucida Sans"/>
              </a:rPr>
              <a:t>Gnanasudha Patur</a:t>
            </a:r>
          </a:p>
          <a:p>
            <a:pPr marL="457200" lvl="0" indent="-330200">
              <a:buClr>
                <a:schemeClr val="lt1"/>
              </a:buClr>
              <a:buSzPts val="1600"/>
              <a:buFont typeface="Lucida Sans"/>
              <a:buChar char="●"/>
            </a:pPr>
            <a:r>
              <a:rPr lang="en-US" sz="1600">
                <a:latin typeface="Lucida Sans"/>
                <a:ea typeface="Lucida Sans"/>
                <a:cs typeface="Lucida Sans"/>
                <a:sym typeface="Lucida Sans"/>
              </a:rPr>
              <a:t>Alwin Shaji</a:t>
            </a:r>
          </a:p>
          <a:p>
            <a:pPr marL="457200" lvl="0" indent="-330200">
              <a:buClr>
                <a:schemeClr val="lt1"/>
              </a:buClr>
              <a:buSzPts val="1600"/>
              <a:buFont typeface="Lucida Sans"/>
              <a:buChar char="●"/>
            </a:pPr>
            <a:r>
              <a:rPr lang="en-US" sz="1600">
                <a:latin typeface="Lucida Sans"/>
                <a:ea typeface="Lucida Sans"/>
                <a:cs typeface="Lucida Sans"/>
                <a:sym typeface="Lucida Sans"/>
              </a:rPr>
              <a:t>Ankith Ramesh Babu</a:t>
            </a:r>
            <a:endParaRPr lang="en-US" sz="1600">
              <a:solidFill>
                <a:schemeClr val="tx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tx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3844647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5983</TotalTime>
  <Words>705</Words>
  <Application>Microsoft Office PowerPoint</Application>
  <PresentationFormat>On-screen Show (16:9)</PresentationFormat>
  <Paragraphs>80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Lucida Sans</vt:lpstr>
      <vt:lpstr>Trebuchet MS</vt:lpstr>
      <vt:lpstr>Wingdings 3</vt:lpstr>
      <vt:lpstr>Facet</vt:lpstr>
      <vt:lpstr>PowerPoint Presentation</vt:lpstr>
      <vt:lpstr>Introduction</vt:lpstr>
      <vt:lpstr>PowerPoint Presentation</vt:lpstr>
      <vt:lpstr>The Simulation Environment</vt:lpstr>
      <vt:lpstr>Baselines for Comparison</vt:lpstr>
      <vt:lpstr>Technology Stack</vt:lpstr>
      <vt:lpstr>Evaluation Method</vt:lpstr>
      <vt:lpstr>Path to an Optimal Agent</vt:lpstr>
      <vt:lpstr>Future Steps: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SHAIK RIFSHU</dc:creator>
  <cp:lastModifiedBy>Satya Sanaboyina</cp:lastModifiedBy>
  <cp:revision>12</cp:revision>
  <dcterms:modified xsi:type="dcterms:W3CDTF">2025-10-19T16:41:19Z</dcterms:modified>
</cp:coreProperties>
</file>